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731520"/>
            <a:ext cx="3108960" cy="31089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960120" cy="9601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83080" y="1371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658368" y="2880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Flow &amp; Hospital Flow across the System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658368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813048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Federated &amp; sovereign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967728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record per visit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8368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&amp; clinical workflow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 with no network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Registration, triage, consultation, lab, pharmacy and billing all run in the browser on a local database — never waiting on connectivity.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06824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6864" y="201168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6864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FEDERATED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626864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stays sovereign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26864" y="4114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in-country node holds a facility’s patient data; a regional layer carries only cross-border referrals and outbreak signals.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10728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30768" y="201168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2402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0768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TRACEABLE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430768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encounter per visit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30768" y="4114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 encounter links the visit’s triage, lab orders, prescriptions and notes — traceable end to end, not scattered.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tiers, one codebase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723644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4228" y="19019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NODE — the browser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606040" y="1993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Clinicians’ device, offline-first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06040" y="2240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PouchDB (one DB per data type) · the clinical runtime · works fully offline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15584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▼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replicates / syncs when online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280160" y="2971800"/>
            <a:ext cx="9601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645920" y="3232404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228" y="341071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COUNTRY NODE — in-country server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2606040" y="3502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durable hub, per country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60604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CouchDB sync hub · sync-worker · PostgreSQL analytics · all PHI lives here, encrypted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815584" y="4206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▼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008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replicates / syncs when online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1280160" y="4480560"/>
            <a:ext cx="9601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645920" y="4741164"/>
            <a:ext cx="713232" cy="713232"/>
          </a:xfrm>
          <a:prstGeom prst="ellipse">
            <a:avLst/>
          </a:prstGeom>
          <a:solidFill>
            <a:srgbClr val="11244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228" y="4919472"/>
            <a:ext cx="356616" cy="35661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6060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NATIONAL &amp; REGIONAL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2606040" y="50109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&amp; interoperability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2606040" y="5257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DHIS2 national reporting · FHIR · regional exchange for cross-border referrals &amp; surveillance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280160" y="5943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Clinicians keep working locally even when the country and regional nodes are unreachable.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MOVEMENT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data moves — offline-first sync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05740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2295144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84832" y="2011680"/>
            <a:ext cx="329184" cy="329184"/>
          </a:xfrm>
          <a:prstGeom prst="ellipse">
            <a:avLst/>
          </a:prstGeom>
          <a:solidFill>
            <a:srgbClr val="11244D"/>
          </a:solidFill>
          <a:ln/>
        </p:spPr>
      </p:sp>
      <p:sp>
        <p:nvSpPr>
          <p:cNvPr id="8" name="Text 5"/>
          <p:cNvSpPr/>
          <p:nvPr/>
        </p:nvSpPr>
        <p:spPr>
          <a:xfrm>
            <a:off x="2084832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locally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56616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Clinician saves → the record lands in the browser’s PouchDB instantly. No network needed.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72968" y="3017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410712" y="16916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9392" y="205740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295144"/>
            <a:ext cx="438912" cy="4389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992624" y="2011680"/>
            <a:ext cx="329184" cy="329184"/>
          </a:xfrm>
          <a:prstGeom prst="ellipse">
            <a:avLst/>
          </a:prstGeom>
          <a:solidFill>
            <a:srgbClr val="11244D"/>
          </a:solidFill>
          <a:ln/>
        </p:spPr>
      </p:sp>
      <p:sp>
        <p:nvSpPr>
          <p:cNvPr id="16" name="Text 12"/>
          <p:cNvSpPr/>
          <p:nvPr/>
        </p:nvSpPr>
        <p:spPr>
          <a:xfrm>
            <a:off x="4992624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39312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Replicate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666744" y="356616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online, PouchDB live-replicates the change to the country node’s CouchDB.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080760" y="3017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318504" y="16916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87184" y="2057400"/>
            <a:ext cx="914400" cy="9144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2295144"/>
            <a:ext cx="438912" cy="43891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900416" y="2011680"/>
            <a:ext cx="329184" cy="329184"/>
          </a:xfrm>
          <a:prstGeom prst="ellipse">
            <a:avLst/>
          </a:prstGeom>
          <a:solidFill>
            <a:srgbClr val="11244D"/>
          </a:solidFill>
          <a:ln/>
        </p:spPr>
      </p:sp>
      <p:sp>
        <p:nvSpPr>
          <p:cNvPr id="24" name="Text 19"/>
          <p:cNvSpPr/>
          <p:nvPr/>
        </p:nvSpPr>
        <p:spPr>
          <a:xfrm>
            <a:off x="7900416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547104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to analytics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574536" y="356616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sync-worker reads CouchDB changes and posts (HMAC-signed) to PostgreSQL for reporting.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988552" y="3017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9226296" y="16916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094976" y="2057400"/>
            <a:ext cx="914400" cy="914400"/>
          </a:xfrm>
          <a:prstGeom prst="ellipse">
            <a:avLst/>
          </a:prstGeom>
          <a:solidFill>
            <a:srgbClr val="11244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295144"/>
            <a:ext cx="438912" cy="43891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0808208" y="2011680"/>
            <a:ext cx="329184" cy="329184"/>
          </a:xfrm>
          <a:prstGeom prst="ellipse">
            <a:avLst/>
          </a:prstGeom>
          <a:solidFill>
            <a:srgbClr val="11244D"/>
          </a:solidFill>
          <a:ln/>
        </p:spPr>
      </p:sp>
      <p:sp>
        <p:nvSpPr>
          <p:cNvPr id="32" name="Text 26"/>
          <p:cNvSpPr/>
          <p:nvPr/>
        </p:nvSpPr>
        <p:spPr>
          <a:xfrm>
            <a:off x="10808208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9454896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Aggregate nationally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482328" y="3566160"/>
            <a:ext cx="21396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sync_events feed the country node → DHIS2 / FHIR. Audited + sync-tracked throughout.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502920" y="5074920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777240" y="51206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Integrity contract: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database is registered for sync, every create/update emits an audit entry + a sync event, and conflicts surface in a queue. Append-only logs (audit, controlled substances) are push-only.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HOSPITAL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patient journey,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444752" cy="2057400"/>
          </a:xfrm>
          <a:prstGeom prst="roundRect">
            <a:avLst>
              <a:gd name="adj" fmla="val 4430"/>
            </a:avLst>
          </a:prstGeom>
          <a:solidFill>
            <a:srgbClr val="1B356B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404872"/>
            <a:ext cx="768096" cy="76809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96896"/>
            <a:ext cx="384048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" y="22585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36850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record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929384" y="3017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12264" y="2148840"/>
            <a:ext cx="1444752" cy="2057400"/>
          </a:xfrm>
          <a:prstGeom prst="roundRect">
            <a:avLst>
              <a:gd name="adj" fmla="val 4430"/>
            </a:avLst>
          </a:prstGeom>
          <a:solidFill>
            <a:srgbClr val="1B356B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50592" y="2404872"/>
            <a:ext cx="768096" cy="768096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2596896"/>
            <a:ext cx="384048" cy="38404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221992" y="2258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6" name="Text 12"/>
          <p:cNvSpPr/>
          <p:nvPr/>
        </p:nvSpPr>
        <p:spPr>
          <a:xfrm>
            <a:off x="2221992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157984" y="324612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157984" y="36850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ETAT + vitals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38728" y="3017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721608" y="2148840"/>
            <a:ext cx="1444752" cy="2057400"/>
          </a:xfrm>
          <a:prstGeom prst="roundRect">
            <a:avLst>
              <a:gd name="adj" fmla="val 4430"/>
            </a:avLst>
          </a:prstGeom>
          <a:solidFill>
            <a:srgbClr val="1B356B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059936" y="2404872"/>
            <a:ext cx="768096" cy="76809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596896"/>
            <a:ext cx="384048" cy="38404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831336" y="22585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19"/>
          <p:cNvSpPr/>
          <p:nvPr/>
        </p:nvSpPr>
        <p:spPr>
          <a:xfrm>
            <a:off x="3831336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767328" y="324612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3767328" y="36850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Stepped wizard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148072" y="3017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330952" y="2148840"/>
            <a:ext cx="1444752" cy="2057400"/>
          </a:xfrm>
          <a:prstGeom prst="roundRect">
            <a:avLst>
              <a:gd name="adj" fmla="val 4430"/>
            </a:avLst>
          </a:prstGeom>
          <a:solidFill>
            <a:srgbClr val="1B356B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669280" y="2404872"/>
            <a:ext cx="768096" cy="768096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596896"/>
            <a:ext cx="384048" cy="38404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440680" y="2258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2" name="Text 26"/>
          <p:cNvSpPr/>
          <p:nvPr/>
        </p:nvSpPr>
        <p:spPr>
          <a:xfrm>
            <a:off x="544068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376672" y="324612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5376672" y="36850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Labs + Rx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6757416" y="3017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6940296" y="2148840"/>
            <a:ext cx="1444752" cy="2057400"/>
          </a:xfrm>
          <a:prstGeom prst="roundRect">
            <a:avLst>
              <a:gd name="adj" fmla="val 4430"/>
            </a:avLst>
          </a:prstGeom>
          <a:solidFill>
            <a:srgbClr val="1B356B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278624" y="2404872"/>
            <a:ext cx="768096" cy="76809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2596896"/>
            <a:ext cx="384048" cy="384048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7050024" y="22585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3"/>
          <p:cNvSpPr/>
          <p:nvPr/>
        </p:nvSpPr>
        <p:spPr>
          <a:xfrm>
            <a:off x="7050024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6986016" y="324612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/ Pharmacy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6986016" y="36850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· dispense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8366760" y="3017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8549640" y="2148840"/>
            <a:ext cx="1444752" cy="2057400"/>
          </a:xfrm>
          <a:prstGeom prst="roundRect">
            <a:avLst>
              <a:gd name="adj" fmla="val 4430"/>
            </a:avLst>
          </a:prstGeom>
          <a:solidFill>
            <a:srgbClr val="1B356B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887968" y="2404872"/>
            <a:ext cx="768096" cy="768096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2596896"/>
            <a:ext cx="384048" cy="384048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8659368" y="225856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8" name="Text 40"/>
          <p:cNvSpPr/>
          <p:nvPr/>
        </p:nvSpPr>
        <p:spPr>
          <a:xfrm>
            <a:off x="8659368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1"/>
          <p:cNvSpPr/>
          <p:nvPr/>
        </p:nvSpPr>
        <p:spPr>
          <a:xfrm>
            <a:off x="8595360" y="324612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Billing</a:t>
            </a:r>
            <a:endParaRPr lang="en-US" sz="1350" dirty="0"/>
          </a:p>
        </p:txBody>
      </p:sp>
      <p:sp>
        <p:nvSpPr>
          <p:cNvPr id="50" name="Text 42"/>
          <p:cNvSpPr/>
          <p:nvPr/>
        </p:nvSpPr>
        <p:spPr>
          <a:xfrm>
            <a:off x="8595360" y="36850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 once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9976104" y="3017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600" dirty="0"/>
          </a:p>
        </p:txBody>
      </p:sp>
      <p:sp>
        <p:nvSpPr>
          <p:cNvPr id="52" name="Shape 44"/>
          <p:cNvSpPr/>
          <p:nvPr/>
        </p:nvSpPr>
        <p:spPr>
          <a:xfrm>
            <a:off x="10158984" y="2148840"/>
            <a:ext cx="1444752" cy="2057400"/>
          </a:xfrm>
          <a:prstGeom prst="roundRect">
            <a:avLst>
              <a:gd name="adj" fmla="val 4430"/>
            </a:avLst>
          </a:prstGeom>
          <a:solidFill>
            <a:srgbClr val="1B356B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10497312" y="2404872"/>
            <a:ext cx="768096" cy="76809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6" y="2596896"/>
            <a:ext cx="384048" cy="384048"/>
          </a:xfrm>
          <a:prstGeom prst="rect">
            <a:avLst/>
          </a:prstGeom>
        </p:spPr>
      </p:pic>
      <p:sp>
        <p:nvSpPr>
          <p:cNvPr id="55" name="Shape 46"/>
          <p:cNvSpPr/>
          <p:nvPr/>
        </p:nvSpPr>
        <p:spPr>
          <a:xfrm>
            <a:off x="10268712" y="22585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6" name="Text 47"/>
          <p:cNvSpPr/>
          <p:nvPr/>
        </p:nvSpPr>
        <p:spPr>
          <a:xfrm>
            <a:off x="10268712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300" dirty="0"/>
          </a:p>
        </p:txBody>
      </p:sp>
      <p:sp>
        <p:nvSpPr>
          <p:cNvPr id="57" name="Text 48"/>
          <p:cNvSpPr/>
          <p:nvPr/>
        </p:nvSpPr>
        <p:spPr>
          <a:xfrm>
            <a:off x="10204704" y="324612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Checkout</a:t>
            </a:r>
            <a:endParaRPr lang="en-US" sz="1350" dirty="0"/>
          </a:p>
        </p:txBody>
      </p:sp>
      <p:sp>
        <p:nvSpPr>
          <p:cNvPr id="58" name="Text 49"/>
          <p:cNvSpPr/>
          <p:nvPr/>
        </p:nvSpPr>
        <p:spPr>
          <a:xfrm>
            <a:off x="10204704" y="368503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Visit closed</a:t>
            </a:r>
            <a:endParaRPr lang="en-US" sz="1050" dirty="0"/>
          </a:p>
        </p:txBody>
      </p:sp>
      <p:sp>
        <p:nvSpPr>
          <p:cNvPr id="59" name="Shape 50"/>
          <p:cNvSpPr/>
          <p:nvPr/>
        </p:nvSpPr>
        <p:spPr>
          <a:xfrm>
            <a:off x="4023360" y="4846320"/>
            <a:ext cx="4114800" cy="841248"/>
          </a:xfrm>
          <a:prstGeom prst="roundRect">
            <a:avLst>
              <a:gd name="adj" fmla="val 10870"/>
            </a:avLst>
          </a:prstGeom>
          <a:solidFill>
            <a:srgbClr val="1B356B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60" name="Text 51"/>
          <p:cNvSpPr/>
          <p:nvPr/>
        </p:nvSpPr>
        <p:spPr>
          <a:xfrm>
            <a:off x="4206240" y="4846320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Referral branch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visit can hand off to another facility with a full transfer package.</a:t>
            </a:r>
            <a:endParaRPr lang="en-US" sz="1150" dirty="0"/>
          </a:p>
        </p:txBody>
      </p:sp>
      <p:sp>
        <p:nvSpPr>
          <p:cNvPr id="61" name="Text 52"/>
          <p:cNvSpPr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step writes to the patient’s offline record and links to the same encounter.</a:t>
            </a:r>
            <a:endParaRPr lang="en-US" sz="1250" dirty="0"/>
          </a:p>
        </p:txBody>
      </p:sp>
      <p:sp>
        <p:nvSpPr>
          <p:cNvPr id="62" name="Text 5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63" name="Text 54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00" dirty="0"/>
          </a:p>
        </p:txBody>
      </p:sp>
      <p:sp>
        <p:nvSpPr>
          <p:cNvPr id="64" name="Text 55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 · FRONT DESK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0574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4003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657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Register patient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Reception / central registration clerk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77640" y="1554480"/>
            <a:ext cx="77083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223113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4736592" y="18745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captured: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name, sex, DOB/age, contact, next of kin, geography (state · county · payam · boma).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70832" y="314553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4736592" y="27889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Unique hospital number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generated automatically; geocode + household for community addressing.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70832" y="405993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4736592" y="37033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Duplicate check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 on name + DOB / phone before creating a new record.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70832" y="497433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4736592" y="46177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Stamped &amp; safe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org/facility tagged, audit-logged, queued to sync — works fully offline.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 · NURSE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 (ETAT)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057400"/>
            <a:ext cx="1371600" cy="13716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4003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657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 acuity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Triage, Assessment &amp; Treatment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77640" y="1554480"/>
            <a:ext cx="77083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2231136"/>
            <a:ext cx="201168" cy="20116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736592" y="18745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Priority assigned: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 · YELLOW · GREEN from airway / breathing / circulation / consciousness.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70832" y="3145536"/>
            <a:ext cx="201168" cy="20116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736592" y="27889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Vitals recorded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temperature, pulse, BP, respiratory rate, SpO₂, weight.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70832" y="4059936"/>
            <a:ext cx="201168" cy="20116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5" name="Text 12"/>
          <p:cNvSpPr/>
          <p:nvPr/>
        </p:nvSpPr>
        <p:spPr>
          <a:xfrm>
            <a:off x="4736592" y="37033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Feeds the clinician worklist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patients sort by acuity — most urgent first.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70832" y="4974336"/>
            <a:ext cx="201168" cy="20116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736592" y="46177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Carries into the consult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links the encounter and pre-fills vitals so nothing is re-keyed.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 · CLINICIAN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0574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4003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657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Stepped wizard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Intake → Assessment → Investigations → Treatment → Plan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77640" y="1554480"/>
            <a:ext cx="77083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223113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4736592" y="18745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guided steps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a fixed stepper; progress fills in automatically as data is entered.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70832" y="314553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4736592" y="27889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encounter per visit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on first action — the canonical visit record.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70832" y="405993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4736592" y="37033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 history pre-filled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chronic conditions &amp; allergies pulled from the record, not retyped.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70832" y="497433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4736592" y="46177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Idempotent save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failed save retries without duplicating orders; each step is journaled.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4–5 · DIAGNOSTICS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Orders → Lab lifecycle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5004" y="2057400"/>
            <a:ext cx="621792" cy="621792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22128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313432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478024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12948" y="205740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396" y="22128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32888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Specimen collected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151376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315968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50892" y="205740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22128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70832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Received at lab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989320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153912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88836" y="2057400"/>
            <a:ext cx="621792" cy="621792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4" y="221284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08776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process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827264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7991856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26780" y="205740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228" y="221284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0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Resulted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9665208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9829800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364724" y="2057400"/>
            <a:ext cx="621792" cy="621792"/>
          </a:xfrm>
          <a:prstGeom prst="ellipse">
            <a:avLst/>
          </a:prstGeom>
          <a:solidFill>
            <a:srgbClr val="11244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0172" y="2212848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884664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Reviewed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40080" y="36576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86868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to lab &amp; pause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868680" y="420624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clinician orders tests and the visit pauses as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“Awaiting results.”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It returns to their worklist and resumes — pre-filled — the moment results are back.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6263640" y="3657600"/>
            <a:ext cx="542239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64922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Result-review SLA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6492240" y="420624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result must be reviewed. Unreviewed results escalate —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h critical, 7 days routine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and are flagged to the ordering clinician so abnormal findings can’t sit unseen.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5 · PHARMACY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Pharmacy dispensing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5004" y="205740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22128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queue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313432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478024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12948" y="2057400"/>
            <a:ext cx="621792" cy="621792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396" y="22128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32888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151376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315968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50892" y="205740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22128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70832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Cleared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989320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153912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88836" y="205740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4" y="221284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08776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Dispensed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827264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7991856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26780" y="2057400"/>
            <a:ext cx="621792" cy="621792"/>
          </a:xfrm>
          <a:prstGeom prst="ellipse">
            <a:avLst/>
          </a:prstGeom>
          <a:solidFill>
            <a:srgbClr val="11244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228" y="221284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0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Counseled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9665208" y="2286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9829800" y="18745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364724" y="2057400"/>
            <a:ext cx="621792" cy="621792"/>
          </a:xfrm>
          <a:prstGeom prst="ellipse">
            <a:avLst/>
          </a:prstGeom>
          <a:solidFill>
            <a:srgbClr val="11244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0172" y="2212848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884664" y="2743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40080" y="3657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914400" y="393192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132" y="4073652"/>
            <a:ext cx="283464" cy="28346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600200" y="4041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Stock gate</a:t>
            </a:r>
            <a:endParaRPr lang="en-US" sz="1550" dirty="0"/>
          </a:p>
        </p:txBody>
      </p:sp>
      <p:sp>
        <p:nvSpPr>
          <p:cNvPr id="37" name="Text 28"/>
          <p:cNvSpPr/>
          <p:nvPr/>
        </p:nvSpPr>
        <p:spPr>
          <a:xfrm>
            <a:off x="91440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Dispenses the full prescribed course quantity — blocked if stock is short.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4434840" y="3657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709160" y="3931920"/>
            <a:ext cx="566928" cy="566928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0892" y="4073652"/>
            <a:ext cx="283464" cy="28346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394960" y="4041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Controlled substances</a:t>
            </a:r>
            <a:endParaRPr lang="en-US" sz="1550" dirty="0"/>
          </a:p>
        </p:txBody>
      </p:sp>
      <p:sp>
        <p:nvSpPr>
          <p:cNvPr id="42" name="Text 32"/>
          <p:cNvSpPr/>
          <p:nvPr/>
        </p:nvSpPr>
        <p:spPr>
          <a:xfrm>
            <a:off x="470916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Scheduled drugs need a second-staff witness + two-signature register entry before stock moves.</a:t>
            </a:r>
            <a:endParaRPr lang="en-US" sz="1350" dirty="0"/>
          </a:p>
        </p:txBody>
      </p:sp>
      <p:sp>
        <p:nvSpPr>
          <p:cNvPr id="43" name="Shape 33"/>
          <p:cNvSpPr/>
          <p:nvPr/>
        </p:nvSpPr>
        <p:spPr>
          <a:xfrm>
            <a:off x="8229600" y="3657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8503920" y="393192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5652" y="4073652"/>
            <a:ext cx="283464" cy="28346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189720" y="4041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 to the visit</a:t>
            </a:r>
            <a:endParaRPr lang="en-US" sz="1550" dirty="0"/>
          </a:p>
        </p:txBody>
      </p:sp>
      <p:sp>
        <p:nvSpPr>
          <p:cNvPr id="47" name="Text 36"/>
          <p:cNvSpPr/>
          <p:nvPr/>
        </p:nvSpPr>
        <p:spPr>
          <a:xfrm>
            <a:off x="850392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prescription carries its encounter, so a dispensed drug traces back to the consultation.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6–7 · CASHIER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Billing &amp; checkout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057400"/>
            <a:ext cx="1371600" cy="13716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4003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657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 &amp; close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source of truth for the bill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77640" y="1554480"/>
            <a:ext cx="77083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2231136"/>
            <a:ext cx="201168" cy="20116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8"/>
          <p:cNvSpPr/>
          <p:nvPr/>
        </p:nvSpPr>
        <p:spPr>
          <a:xfrm>
            <a:off x="4736592" y="18745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Charged once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services flow through one charge function — no double-billing across lab / pharmacy / finalize.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70832" y="3145536"/>
            <a:ext cx="201168" cy="20116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736592" y="27889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Insurance applied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a policy exists, coverage + copay are computed so the patient is billed their responsibility.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70832" y="4059936"/>
            <a:ext cx="201168" cy="20116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5" name="Text 12"/>
          <p:cNvSpPr/>
          <p:nvPr/>
        </p:nvSpPr>
        <p:spPr>
          <a:xfrm>
            <a:off x="4736592" y="37033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Charges linked to the encounter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a visit’s full cost is answerable and auditable.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70832" y="4974336"/>
            <a:ext cx="201168" cy="20116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4"/>
          <p:cNvSpPr/>
          <p:nvPr/>
        </p:nvSpPr>
        <p:spPr>
          <a:xfrm>
            <a:off x="4736592" y="461772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Checkout gate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visit can’t be closed while ordered investigations are still open at the lab.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Encounter-centric linkage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41368" y="164592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11244D"/>
          </a:solidFill>
          <a:ln/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97400" y="19202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073" y="20519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55768" y="1847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ENCOUNTER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55768" y="2212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canonical visit record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3493008"/>
            <a:ext cx="603504" cy="60350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" y="36438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447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645920" y="3813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triageId · acuity + vitals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36008" y="32461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28616" y="3493008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36438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41848" y="3447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orders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641848" y="3813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labOrderIds[] · results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622792" y="32461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15400" y="3493008"/>
            <a:ext cx="603504" cy="60350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276" y="36438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28632" y="3447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Prescriptions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628632" y="3813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prescriptionIds[] · pharmacy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651760" y="48463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944368" y="5093208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244" y="524408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57600" y="5047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Medical record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657600" y="5413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finalized visit note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629400" y="48463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922008" y="5093208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884" y="524408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635240" y="5047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635240" y="5413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encounterId · the bill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 by id — not scattered copies. Any document traces back to its visit.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 ACROSS AFRICA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Sovereign by 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1717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node per country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country’s data lives in or near that country — never one global database. Independent and fault-isolated.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06824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196596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1717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Regional exchange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26864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Carries only what legitimately crosses borders — referrals and outbreak signals — minimum / anonymised data.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10728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1965960"/>
            <a:ext cx="822960" cy="8229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1717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0768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4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30768" y="3383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Fits African data-protection laws (NDPA, Kenya DPA, POPIA…). Encryption at rest + TLS, RBAC, full audit trail.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2920" y="4617720"/>
            <a:ext cx="11183112" cy="1371600"/>
          </a:xfrm>
          <a:prstGeom prst="roundRect">
            <a:avLst>
              <a:gd name="adj" fmla="val 5333"/>
            </a:avLst>
          </a:prstGeom>
          <a:solidFill>
            <a:srgbClr val="11244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7724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path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7240" y="51389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on a cloud VPS (no PHI) →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93B4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country node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in-country, encrypted, DHIS2-connected →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93B4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 per country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with the regional exchange for cross-border flows.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35264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EHR · South Sudan &amp; Africa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743200"/>
            <a:ext cx="3291840" cy="32918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record. Every step. Anywhere.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640080" y="37033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CE6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Offline-first care that captures clean, linked data — and moves it from the bedside to the nation, sovereign at every tier.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TamamHealth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TamamHealth — Data &amp; Hospital Flow</dc:title>
  <dc:subject>PptxGenJS Presentation</dc:subject>
  <dc:creator>TamamHealth</dc:creator>
  <cp:lastModifiedBy>TamamHealth</cp:lastModifiedBy>
  <cp:revision>1</cp:revision>
  <dcterms:created xsi:type="dcterms:W3CDTF">2026-06-16T01:41:01Z</dcterms:created>
  <dcterms:modified xsi:type="dcterms:W3CDTF">2026-06-16T01:41:01Z</dcterms:modified>
</cp:coreProperties>
</file>